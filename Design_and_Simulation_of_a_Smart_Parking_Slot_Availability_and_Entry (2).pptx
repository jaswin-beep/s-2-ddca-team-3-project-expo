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Krona One"/>
      <p:regular r:id="rId201314"/>
    </p:embeddedFont>
    <p:embeddedFont>
      <p:font typeface="Lexend"/>
      <p:regular r:id="rId201315"/>
    </p:embeddedFont>
    <p:embeddedFont>
      <p:font typeface="Lexend Medium"/>
      <p:regular r:id="rId201316"/>
    </p:embeddedFont>
    <p:embeddedFont>
      <p:font typeface="Lexend Bold"/>
      <p:regular r:id="rId201317"/>
    </p:embeddedFont>
    <p:embeddedFont>
      <p:font typeface="Martian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1058545"/>
            <a:ext cx="591805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FINAL PROJECT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398375"/>
            <a:ext cx="5308467" cy="3127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38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Design and Simulation of a Smart Parking Slot Availability and Entry Control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87380" y="4778732"/>
            <a:ext cx="5308467" cy="92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Team members: Nitin — 2620030166 · Jaswin — 2620030148 · Jayaram — 2620030183 · Sahasra — 2620030170 · Moksha — 2620030147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Section: Group 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Parking availability should be visible before the gate opens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3175893"/>
            <a:ext cx="3454314" cy="3072507"/>
          </a:xfrm>
          <a:prstGeom prst="roundRect">
            <a:avLst>
              <a:gd name="adj" fmla="val 4166"/>
            </a:avLst>
          </a:prstGeom>
          <a:solidFill>
            <a:srgbClr val="1E1F6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3876933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Problem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38179" y="4485521"/>
            <a:ext cx="2997125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Drivers spend time searching for empty spaces, while manual entry control creates delays.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68691" y="3175893"/>
            <a:ext cx="3454314" cy="3072507"/>
          </a:xfrm>
          <a:prstGeom prst="roundRect">
            <a:avLst>
              <a:gd name="adj" fmla="val 4166"/>
            </a:avLst>
          </a:prstGeom>
          <a:solidFill>
            <a:srgbClr val="1E1F66"/>
          </a:solidFill>
          <a:ln/>
        </p:spPr>
      </p:sp>
      <p:sp>
        <p:nvSpPr>
          <p:cNvPr id="8" name="Text 6"/>
          <p:cNvSpPr/>
          <p:nvPr/>
        </p:nvSpPr>
        <p:spPr>
          <a:xfrm>
            <a:off x="4597285" y="3876933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97285" y="4485521"/>
            <a:ext cx="2997125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Detect whether parking slots are occupied, display availability, and permit entry only when a slot is free.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7797" y="3175893"/>
            <a:ext cx="3454314" cy="3072507"/>
          </a:xfrm>
          <a:prstGeom prst="roundRect">
            <a:avLst>
              <a:gd name="adj" fmla="val 4166"/>
            </a:avLst>
          </a:prstGeom>
          <a:solidFill>
            <a:srgbClr val="1E1F66"/>
          </a:solidFill>
          <a:ln/>
        </p:spPr>
      </p:sp>
      <p:sp>
        <p:nvSpPr>
          <p:cNvPr id="11" name="Text 9"/>
          <p:cNvSpPr/>
          <p:nvPr/>
        </p:nvSpPr>
        <p:spPr>
          <a:xfrm>
            <a:off x="8356391" y="3876933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System idea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56391" y="4485521"/>
            <a:ext cx="2997125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Slot sensors provide binary inputs; combinational logic produces availability and entry-control outputs.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79553" y="2718693"/>
            <a:ext cx="914377" cy="914400"/>
          </a:xfrm>
          <a:prstGeom prst="ellipse">
            <a:avLst/>
          </a:prstGeom>
          <a:solidFill>
            <a:srgbClr val="2878FF"/>
          </a:solidFill>
          <a:ln w="19050">
            <a:solidFill>
              <a:srgbClr val="4D4D8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197" y="2966343"/>
            <a:ext cx="419090" cy="4191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638659" y="2718693"/>
            <a:ext cx="914377" cy="914400"/>
          </a:xfrm>
          <a:prstGeom prst="ellipse">
            <a:avLst/>
          </a:prstGeom>
          <a:solidFill>
            <a:srgbClr val="2878FF"/>
          </a:solidFill>
          <a:ln w="19050">
            <a:solidFill>
              <a:srgbClr val="4D4D8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303" y="2966343"/>
            <a:ext cx="419090" cy="4191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397765" y="2718693"/>
            <a:ext cx="914377" cy="914400"/>
          </a:xfrm>
          <a:prstGeom prst="ellipse">
            <a:avLst/>
          </a:prstGeom>
          <a:solidFill>
            <a:srgbClr val="2878FF"/>
          </a:solidFill>
          <a:ln w="19050">
            <a:solidFill>
              <a:srgbClr val="4D4D8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409" y="2966343"/>
            <a:ext cx="41909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47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BOOLEAN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09585" y="781296"/>
            <a:ext cx="1097252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spc="-8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Logic gates convert slot status into an entry decision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1140368"/>
            <a:ext cx="11582110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S1 and S2 represent two parking slots. A value of 0 means vacant; 1 means occupied.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8245" y="1560000"/>
            <a:ext cx="7215205" cy="3111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75577" y="1913979"/>
            <a:ext cx="3967810" cy="2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5" kern="100" dirty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S1 &amp; S2</a:t>
            </a:r>
            <a:endParaRPr lang="en-US" sz="1400" b="1" dirty="0"/>
          </a:p>
        </p:txBody>
      </p:sp>
      <p:sp>
        <p:nvSpPr>
          <p:cNvPr id="7" name="Text 4"/>
          <p:cNvSpPr/>
          <p:nvPr/>
        </p:nvSpPr>
        <p:spPr>
          <a:xfrm>
            <a:off x="2975577" y="2635500"/>
            <a:ext cx="3967810" cy="2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5" kern="100" dirty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OR → A</a:t>
            </a:r>
            <a:endParaRPr lang="en-US" sz="1400" b="1" dirty="0"/>
          </a:p>
        </p:txBody>
      </p:sp>
      <p:sp>
        <p:nvSpPr>
          <p:cNvPr id="8" name="Text 5"/>
          <p:cNvSpPr/>
          <p:nvPr/>
        </p:nvSpPr>
        <p:spPr>
          <a:xfrm>
            <a:off x="2975577" y="3349804"/>
            <a:ext cx="3967810" cy="2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5" kern="100" dirty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NOT (A)</a:t>
            </a:r>
            <a:endParaRPr lang="en-US" sz="1400" b="1" dirty="0"/>
          </a:p>
        </p:txBody>
      </p:sp>
      <p:sp>
        <p:nvSpPr>
          <p:cNvPr id="9" name="Text 6"/>
          <p:cNvSpPr/>
          <p:nvPr/>
        </p:nvSpPr>
        <p:spPr>
          <a:xfrm>
            <a:off x="2975577" y="4064108"/>
            <a:ext cx="3967810" cy="2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5" kern="100" dirty="0">
                <a:solidFill>
                  <a:srgbClr val="14165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 &amp; E → G</a:t>
            </a:r>
            <a:endParaRPr lang="en-US" sz="1400" b="1" dirty="0"/>
          </a:p>
        </p:txBody>
      </p:sp>
      <p:sp>
        <p:nvSpPr>
          <p:cNvPr id="10" name="Shape 7"/>
          <p:cNvSpPr/>
          <p:nvPr/>
        </p:nvSpPr>
        <p:spPr>
          <a:xfrm>
            <a:off x="0" y="4764187"/>
            <a:ext cx="4063898" cy="2093813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11" name="Text 8"/>
          <p:cNvSpPr/>
          <p:nvPr/>
        </p:nvSpPr>
        <p:spPr>
          <a:xfrm>
            <a:off x="609585" y="5373787"/>
            <a:ext cx="345431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47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9585" y="5544340"/>
            <a:ext cx="2844729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7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 = NOT(S1 OR S2)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09585" y="5867150"/>
            <a:ext cx="2844729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is 1 only when both slots are vacant.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063898" y="4764187"/>
            <a:ext cx="4063898" cy="2093813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15" name="Text 12"/>
          <p:cNvSpPr/>
          <p:nvPr/>
        </p:nvSpPr>
        <p:spPr>
          <a:xfrm>
            <a:off x="4673483" y="5373787"/>
            <a:ext cx="345431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47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ENTRY CONTROL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73483" y="5544340"/>
            <a:ext cx="2844729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7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G = E AND 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673483" y="5867150"/>
            <a:ext cx="2844729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gate opens only when E is active and space is available.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127797" y="4764187"/>
            <a:ext cx="4063898" cy="2093813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19" name="Text 16"/>
          <p:cNvSpPr/>
          <p:nvPr/>
        </p:nvSpPr>
        <p:spPr>
          <a:xfrm>
            <a:off x="8737381" y="5373787"/>
            <a:ext cx="345431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47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OUTPUTS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737381" y="5544340"/>
            <a:ext cx="2844729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7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LED + gate signal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737381" y="5867150"/>
            <a:ext cx="2844729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LED shows space; Gate Open authorizes entry.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4057548" y="4764187"/>
            <a:ext cx="12700" cy="2093813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23" name="Shape 20"/>
          <p:cNvSpPr/>
          <p:nvPr/>
        </p:nvSpPr>
        <p:spPr>
          <a:xfrm>
            <a:off x="8121447" y="4764187"/>
            <a:ext cx="12700" cy="2093813"/>
          </a:xfrm>
          <a:prstGeom prst="rect">
            <a:avLst/>
          </a:prstGeom>
          <a:solidFill>
            <a:srgbClr val="2878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Logisim turns the Boolean logic into a working circuit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59424"/>
            <a:ext cx="1158211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circuit is combinational: outputs change immediately when any input changes.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645172"/>
            <a:ext cx="52576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Place inputs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190319"/>
            <a:ext cx="525766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Place two input pins for S1 and S2, plus one input pin for entry request 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24442" y="2645172"/>
            <a:ext cx="52576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Build 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24442" y="3190319"/>
            <a:ext cx="525766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Connect S1 and S2 to an OR gate; invert its output with a NOT gate to create 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4268787"/>
            <a:ext cx="52576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Build 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585" y="4813935"/>
            <a:ext cx="525766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Connect A and E to an AND gate; label its output Gate Open.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24442" y="4268787"/>
            <a:ext cx="52576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Test outputs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24442" y="4813935"/>
            <a:ext cx="525766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Add LEDs or output pins for Available and Gate Open, then test each input combination.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89498" y="2632472"/>
            <a:ext cx="12700" cy="1395016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5" y="4021138"/>
            <a:ext cx="5486263" cy="127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9498" y="4027488"/>
            <a:ext cx="12700" cy="1395016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4021138"/>
            <a:ext cx="5486263" cy="12700"/>
          </a:xfrm>
          <a:prstGeom prst="rect">
            <a:avLst/>
          </a:prstGeom>
          <a:solidFill>
            <a:srgbClr val="2878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73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SIMULATION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2712"/>
            <a:ext cx="10972526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spc="-13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Simulation confirms availability and entry behavior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549654"/>
            <a:ext cx="10972526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truth table checks every combination of S1, S2, and E. A vacant slot alone is not sufficient: the entry request must also be active. Both slots occupied: A = 0 and G = 0; vacant slot with E = 1: G = 1.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07022"/>
          <a:ext cx="7111822" cy="914400"/>
        </p:xfrm>
        <a:graphic>
          <a:graphicData uri="http://schemas.openxmlformats.org/drawingml/2006/table">
            <a:tbl>
              <a:tblPr/>
              <a:tblGrid>
                <a:gridCol w="853359"/>
                <a:gridCol w="853359"/>
                <a:gridCol w="711182"/>
                <a:gridCol w="2133547"/>
                <a:gridCol w="2560375"/>
              </a:tblGrid>
              <a:tr h="432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S2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E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Available A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Gate Open G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9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</a:tr>
              <a:tr h="432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5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5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6274847"/>
            <a:ext cx="7111822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Highlighted row: a vacant slot plus an active entry request opens the gate.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26199" y="2207022"/>
            <a:ext cx="355591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73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LOGISIM SCREENSHOTS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26199" y="2544763"/>
            <a:ext cx="3555911" cy="2675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Both vacant</a:t>
            </a:r>
            <a:pPr algn="l" indent="0" marL="0">
              <a:lnSpc>
                <a:spcPct val="109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— Insert Logisim screenshot: S1 = 0, S2 = 0.</a:t>
            </a:r>
            <a:endParaRPr lang="en-US" sz="1650" dirty="0"/>
          </a:p>
          <a:p>
            <a:pPr algn="l" indent="0" marL="0">
              <a:lnSpc>
                <a:spcPct val="109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One occupied</a:t>
            </a:r>
            <a:pPr algn="l" indent="0" marL="0">
              <a:lnSpc>
                <a:spcPct val="109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— Insert Logisim screenshot: S1 = 0, S2 = 1.</a:t>
            </a:r>
            <a:endParaRPr lang="en-US" sz="1650" dirty="0"/>
          </a:p>
          <a:p>
            <a:pPr algn="l" indent="0" marL="0">
              <a:lnSpc>
                <a:spcPct val="109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Both occupied</a:t>
            </a:r>
            <a:pPr algn="l" indent="0" marL="0">
              <a:lnSpc>
                <a:spcPct val="109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— Insert Logisim screenshot: S1 = 1, S2 = 1.</a:t>
            </a:r>
            <a:endParaRPr lang="en-US" sz="16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16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Request inactive</a:t>
            </a:r>
            <a:pPr algn="l" indent="0" marL="0">
              <a:lnSpc>
                <a:spcPct val="109000"/>
              </a:lnSpc>
              <a:buNone/>
            </a:pPr>
            <a:r>
              <a:rPr lang="en-US" sz="16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— Insert Logisim screenshot: E = 0.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712470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32100"/>
            <a:ext cx="6908627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E6E9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 small combinational circuit can support smarter parking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585" y="2145149"/>
            <a:ext cx="690862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Sensor inputs drive a clear availability signal and controlled entry decision.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3039467"/>
            <a:ext cx="337811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Where it fits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584615"/>
            <a:ext cx="3378115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Small parking lots, laboratory prototypes, campus entry systems, garages, and access-control demonstrations.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40096" y="3039467"/>
            <a:ext cx="337811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Next improvements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40096" y="3584615"/>
            <a:ext cx="3378115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Add more slots with counters or multiplexers; add a full-capacity display, vehicle exit sensing, priority access, and a microcontroller for real-time monitoring.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5709404"/>
            <a:ext cx="6908627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Logic simulation provides a safe, testable step before implementing the physical system.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2026-10-15T06:33:06Z</dcterms:created>
  <dcterms:modified xsi:type="dcterms:W3CDTF">2026-10-15T06:33:06Z</dcterms:modified>
</cp:coreProperties>
</file>